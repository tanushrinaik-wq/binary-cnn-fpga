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75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52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88720"/>
            <a:ext cx="73152" cy="2743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EdgeProbe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Binary Neural Network Acceleration on a Constrained FPGA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Knowledge Distillation to Streaming Hardware Inference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7772400" cy="2286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27230  Tanushri Naik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649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26514  Mehuli Chatterjee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6210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26020  Rayaan Ghosh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770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25887  Ayush Sagar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4297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138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868680"/>
            <a:ext cx="9144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144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Edge AI requires ultra-low power and minimal latency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8138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28800"/>
            <a:ext cx="9144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Standard CNNs rely on heavy multiply-accumulate (MAC) operations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8138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788920"/>
            <a:ext cx="9144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346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MAC units are expensive in area and power on FPGAs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8138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749040"/>
            <a:ext cx="9144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947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Need highly efficient models without sacrificing usability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expensive float operations with binary equivalents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840480" cy="1371600"/>
          </a:xfrm>
          <a:prstGeom prst="rect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27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→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logic gate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840480" cy="1371600"/>
          </a:xfrm>
          <a:prstGeom prst="rect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27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8013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Popcount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4632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1-bits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3840480" cy="1371600"/>
          </a:xfrm>
          <a:prstGeom prst="rect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27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4015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{–1, +1}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values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840480" cy="1371600"/>
          </a:xfrm>
          <a:prstGeom prst="rect">
            <a:avLst/>
          </a:prstGeom>
          <a:solidFill>
            <a:srgbClr val="13223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127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4015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 faster*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4632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FPGA-friendly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6336C6-0ED6-463F-9B32-583A561EFB89}"/>
              </a:ext>
            </a:extLst>
          </p:cNvPr>
          <p:cNvSpPr txBox="1"/>
          <p:nvPr/>
        </p:nvSpPr>
        <p:spPr>
          <a:xfrm>
            <a:off x="785707" y="4781973"/>
            <a:ext cx="7261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*Our results show 10 times faster but its due to the pipeline being I/O bound and not compute bound.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463040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Paper Scissors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 Grayscale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755648"/>
            <a:ext cx="219456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960120"/>
            <a:ext cx="1463040" cy="17373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8256" y="1024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48256" y="153619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11296" y="1755648"/>
            <a:ext cx="219456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0752" y="960120"/>
            <a:ext cx="1463040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024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30752" y="153619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BCNN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 + KD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93792" y="1755648"/>
            <a:ext cx="219456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3248" y="960120"/>
            <a:ext cx="1463040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1024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Binarize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13248" y="153619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 Weights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Folding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76288" y="1755648"/>
            <a:ext cx="219456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95744" y="960120"/>
            <a:ext cx="1463040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95744" y="1024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95744" y="153619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Quartus II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2926080"/>
            <a:ext cx="8138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9443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Training → STE Binarization → KD Loss → Weight Export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657600"/>
            <a:ext cx="8138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67588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RTL Manifest → Verilog Modules → Quartus Synthesis → FPGA Deploy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046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Paper Scissors — from TensorFlow Datasets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to 32×32 grayscale (single channel)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042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labels: Rock = 0, Not-Rock =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54096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5409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2,892 total samples — 70/15/15 split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0" y="749808"/>
            <a:ext cx="3703320" cy="34747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20640" y="42519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dataset images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046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MobileNetV2 fine-tuned on RPS (~99.77%)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Tiny BCNN with STE binary activations &amp; weights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042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Distillation: KD loss = KL(soft) + CE(hard)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54096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5409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T=3.0, Alpha=0.3 for stable binary learning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749808"/>
            <a:ext cx="3749040" cy="34747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74920" y="4251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(STE + KD) training curves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417320" cy="9144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(MobileNetV2)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804672"/>
            <a:ext cx="1417320" cy="9144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8412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12801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(Binary CNN)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804672"/>
            <a:ext cx="1417320" cy="9144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8412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 pp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12801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Float→Binary Drop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828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Binarization preserves accuracy — zero degradation vs float student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8348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confusion matrix comparison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28BEB59-BCA8-4662-8472-A3ADEECED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790" y="2197506"/>
            <a:ext cx="6788499" cy="19813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Distribution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046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 training pushes weights to cluster near ±1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binarization causes minimal information loss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042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post-hoc binarization: random float weights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54096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5409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folded into per-filter popcount thresholds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74920" y="4251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 &amp; Conv2 STE-trained weight distributions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5DBEF9-FC17-4C32-8406-D5A4331DA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377" y="3384592"/>
            <a:ext cx="5900383" cy="16256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3840480" cy="1508760"/>
          </a:xfrm>
          <a:prstGeom prst="rect">
            <a:avLst/>
          </a:prstGeom>
          <a:solidFill>
            <a:srgbClr val="0D28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384048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424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FPGA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08176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 IV EP4CE115F29C7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Quartus II 13.0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3840480" cy="1508760"/>
          </a:xfrm>
          <a:prstGeom prst="rect">
            <a:avLst/>
          </a:prstGeom>
          <a:solidFill>
            <a:srgbClr val="0D28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05840"/>
            <a:ext cx="384048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424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408176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serial input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32×32 pixel FIFO buffer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3840480" cy="1508760"/>
          </a:xfrm>
          <a:prstGeom prst="rect">
            <a:avLst/>
          </a:prstGeom>
          <a:solidFill>
            <a:srgbClr val="0D28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43200"/>
            <a:ext cx="384048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797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45536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binary conv layers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XNOR + popcount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3840480" cy="1508760"/>
          </a:xfrm>
          <a:prstGeom prst="rect">
            <a:avLst/>
          </a:prstGeom>
          <a:solidFill>
            <a:srgbClr val="0D28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743200"/>
            <a:ext cx="384048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7797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3145536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→ Q8.8 dense layer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Rock / Not-Rock class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Dataflow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795528"/>
            <a:ext cx="50292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795528"/>
            <a:ext cx="7498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841248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→ FIFO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pixel stream buffered into 32×32 FIFO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591056"/>
            <a:ext cx="50292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36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1591056"/>
            <a:ext cx="7498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636776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Binarization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at 128/255 → {0,1} binary pixels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386584"/>
            <a:ext cx="50292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32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2386584"/>
            <a:ext cx="7498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2432304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Window Generator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over padded binary image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182112"/>
            <a:ext cx="50292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27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" y="3182112"/>
            <a:ext cx="7498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322783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XNOR + Popcount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dot product → compare vs BN threshold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3977640"/>
            <a:ext cx="50292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3000" y="3977640"/>
            <a:ext cx="7498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402336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+ Dense Layer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→ Q8.8 fixed-point classifier → argmax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Inference Flowchart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356616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052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Input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76272" y="1353312"/>
            <a:ext cx="219456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9344"/>
            <a:ext cx="356616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Buffer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76272" y="2139696"/>
            <a:ext cx="219456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395728"/>
            <a:ext cx="3566160" cy="530352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7802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176272" y="2926080"/>
            <a:ext cx="219456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182112"/>
            <a:ext cx="3566160" cy="530352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644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Generator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176272" y="3712464"/>
            <a:ext cx="219456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968496"/>
            <a:ext cx="356616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 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83480" y="822960"/>
            <a:ext cx="356616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9052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 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56832" y="1353312"/>
            <a:ext cx="219456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1609344"/>
            <a:ext cx="356616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56832" y="2139696"/>
            <a:ext cx="219456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2395728"/>
            <a:ext cx="356616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47802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56832" y="2926080"/>
            <a:ext cx="219456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3182112"/>
            <a:ext cx="356616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2644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vs Software BCNN Performance — Key Insights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40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795528"/>
            <a:ext cx="7498080" cy="2516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  <p:txBody>
          <a:bodyPr/>
          <a:lstStyle/>
          <a:p>
            <a:pPr marL="342900" indent="-342900">
              <a:buAutoNum type="arabicPeriod"/>
            </a:pPr>
            <a:r>
              <a:rPr lang="en-IN" dirty="0"/>
              <a:t>FPGA latency (~400 µs) is input-bound, not compute-bound</a:t>
            </a:r>
          </a:p>
          <a:p>
            <a:pPr marL="342900" indent="-342900">
              <a:buAutoNum type="arabicPeriod"/>
            </a:pPr>
            <a:r>
              <a:rPr lang="en-IN" dirty="0"/>
              <a:t>SPI transfer dominates runtime (20 MHz, serial input)</a:t>
            </a:r>
          </a:p>
          <a:p>
            <a:pPr marL="342900" indent="-342900">
              <a:buAutoNum type="arabicPeriod"/>
            </a:pPr>
            <a:r>
              <a:rPr lang="en-IN" dirty="0"/>
              <a:t>Image size = 32×32 → 1024 pixels, each 8 bits</a:t>
            </a:r>
          </a:p>
          <a:p>
            <a:pPr marL="342900" indent="-342900">
              <a:buAutoNum type="arabicPeriod"/>
            </a:pPr>
            <a:r>
              <a:rPr lang="en-IN" dirty="0"/>
              <a:t>SPI transfer time ≈ 1024 × 8 × 50 ns ≈ 400 µs</a:t>
            </a:r>
          </a:p>
          <a:p>
            <a:pPr marL="342900" indent="-342900">
              <a:buAutoNum type="arabicPeriod"/>
            </a:pPr>
            <a:r>
              <a:rPr lang="en-IN" dirty="0"/>
              <a:t>Actual FPGA compute time ≈ 20 µs (only ~1%)</a:t>
            </a:r>
          </a:p>
          <a:p>
            <a:pPr marL="342900" indent="-342900">
              <a:buAutoNum type="arabicPeriod"/>
            </a:pPr>
            <a:r>
              <a:rPr lang="en-IN" dirty="0"/>
              <a:t>Pipeline is highly parallel but starved by slow input</a:t>
            </a:r>
          </a:p>
          <a:p>
            <a:pPr marL="342900" indent="-342900">
              <a:buAutoNum type="arabicPeriod"/>
            </a:pPr>
            <a:r>
              <a:rPr lang="en-IN" dirty="0"/>
              <a:t>CPU float baseline is already highly optimized (SIMD/BLAS)</a:t>
            </a:r>
          </a:p>
          <a:p>
            <a:pPr marL="342900" indent="-342900">
              <a:buAutoNum type="arabicPeriod"/>
            </a:pPr>
            <a:r>
              <a:rPr lang="en-IN" dirty="0"/>
              <a:t>Binary speedup (2.26×) is limited by unoptimized NumPy implementation</a:t>
            </a:r>
          </a:p>
        </p:txBody>
      </p:sp>
      <p:sp>
        <p:nvSpPr>
          <p:cNvPr id="7" name="Text 5"/>
          <p:cNvSpPr/>
          <p:nvPr/>
        </p:nvSpPr>
        <p:spPr>
          <a:xfrm>
            <a:off x="1325880" y="841248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636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1636776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432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432304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" y="932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22783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02336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5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F7F9D0B-72DE-4BDD-A508-52BFCB8EB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9" y="3312160"/>
            <a:ext cx="7498081" cy="183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132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07D8B5-37E6-4CC5-9CB2-9D9293FA9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67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2743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EdgeProbe demonstrates a complete ML → FPGA workflow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8138160" cy="658368"/>
          </a:xfrm>
          <a:prstGeom prst="rect">
            <a:avLst/>
          </a:prstGeom>
          <a:solidFill>
            <a:srgbClr val="0D2840"/>
          </a:solidFill>
          <a:ln w="12700">
            <a:solidFill>
              <a:srgbClr val="1A3A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53312"/>
            <a:ext cx="7315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0817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Binary CNN enables efficient edge AI with minimal hardware cost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221992"/>
            <a:ext cx="8138160" cy="658368"/>
          </a:xfrm>
          <a:prstGeom prst="rect">
            <a:avLst/>
          </a:prstGeom>
          <a:solidFill>
            <a:srgbClr val="0D2840"/>
          </a:solidFill>
          <a:ln w="12700">
            <a:solidFill>
              <a:srgbClr val="1A3A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21992"/>
            <a:ext cx="7315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7685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XNOR + popcount replaces MAC — orders-of-magnitude speedup on FPGA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090672"/>
            <a:ext cx="8138160" cy="658368"/>
          </a:xfrm>
          <a:prstGeom prst="rect">
            <a:avLst/>
          </a:prstGeom>
          <a:solidFill>
            <a:srgbClr val="0D2840"/>
          </a:solidFill>
          <a:ln w="12700">
            <a:solidFill>
              <a:srgbClr val="1A3A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090672"/>
            <a:ext cx="7315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14553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STE training ensures weights cluster at ±1, binarization is lossless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959352"/>
            <a:ext cx="8138160" cy="658368"/>
          </a:xfrm>
          <a:prstGeom prst="rect">
            <a:avLst/>
          </a:prstGeom>
          <a:solidFill>
            <a:srgbClr val="0D2840"/>
          </a:solidFill>
          <a:ln w="12700">
            <a:solidFill>
              <a:srgbClr val="1A3A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959352"/>
            <a:ext cx="7315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01421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End-to-end pipeline: dataset → KD training → RTL → streaming inference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1233</TotalTime>
  <Words>632</Words>
  <Application>Microsoft Office PowerPoint</Application>
  <PresentationFormat>On-screen Show (16:9)</PresentationFormat>
  <Paragraphs>135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EdgeProbe: Binary Neural Network Acceleration on FPGA</dc:title>
  <dc:subject>PptxGenJS Presentation</dc:subject>
  <dc:creator>PptxGenJS</dc:creator>
  <cp:lastModifiedBy>ADMIN</cp:lastModifiedBy>
  <cp:revision>5</cp:revision>
  <dcterms:created xsi:type="dcterms:W3CDTF">2026-05-01T08:34:58Z</dcterms:created>
  <dcterms:modified xsi:type="dcterms:W3CDTF">2026-05-02T05:10:15Z</dcterms:modified>
</cp:coreProperties>
</file>